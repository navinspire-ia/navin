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999" cy="164592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118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945A"/>
                </a:solidFill>
              </a:rPr>
              <a:t>DOSSIER DE CANDIDATURE</a:t>
            </a:r>
          </a:p>
          <a:p>
            <a:r>
              <a:rPr sz="3200" b="1">
                <a:solidFill>
                  <a:srgbClr val="FFFFFF"/>
                </a:solidFill>
              </a:rPr>
              <a:t>Audit Demonstration Conseil</a:t>
            </a:r>
          </a:p>
          <a:p>
            <a:r>
              <a:rPr sz="1800">
                <a:solidFill>
                  <a:srgbClr val="E2E8F0"/>
                </a:solidFill>
              </a:rPr>
              <a:t>Audit Plateforme de donnees territoriales et API metier</a:t>
            </a:r>
          </a:p>
          <a:p>
            <a:r>
              <a:rPr sz="1400">
                <a:solidFill>
                  <a:srgbClr val="CBD5E1"/>
                </a:solidFill>
              </a:rPr>
              <a:t>Audit Syndicat de Demonstration  ·  2099-11-30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Lecture du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Synthese de proposition pour revue. Le Word contient les fiches completes de mise en oeuvre et de recette, ainsi que le registre des pieces. Les reserves restent ouvertes avant depot.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Deroulement propose et preuves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050" y="868680"/>
            <a:ext cx="801989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Resume executif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Audit Demonstration Conseil propose de traiter Audit Plateforme de donnees territoriales et API metier.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Marche fictif: centraliser les donnees territoriales, fiabiliser les indicateurs et exposer des API aux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applications metier. Le titulaire doit assurer la reprise, la mise en service et le transfert. La duree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contractuelle est de 9 mois.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La matrice couvre 14 points source, sans conclure automatiquement a la conformite. Les fiches precisent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la mise en oeuvre, les livrables, les tests et les dependances; les references et certifications restent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soumises au controle des pieces.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Acheteur: Audit Syndicat de Demonstration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Date limite de depot: 2099-11-30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Budget publie, distinct du prix propose: 360000 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Resume executif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Points d'admissibilite a lever: ISO 27001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Presentation de la societe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Audit Demonstration Conseil SAS presente ici sa capacite a tenir Audit Plateforme de donnees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territoriales et API metier, avec les seuls elements deja inscrits au dossier societe.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Audit Demonstration Conseil SAS intervient comme Architecture data, integration et qualite des donnees /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Data, API, Architecture, Cloud.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Marches deja couverts au dossier : MOE, AMOA.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Projets deja realises : plateforme data, API metier.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Ce que le dossier met en avant, sans ajout : Cartographie des flux, Tests automatises de non-regression.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Fiche d'identite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Enseigne : Audit Demonstration Conseil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Presentation de la societe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Raison sociale : Audit Demonstration Conseil SAS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Specialite : Architecture data, integration et qualite des donnees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Metiers : Data, API, Architecture, Cloud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Types de marches : MOE, AMOA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Types de projets : plateforme data, API metier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Certifications au dossier : ISO 9001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Effectif : 12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Chiffre d'affaires : 1200000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Presentation de la societe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Contact : audit@example.invalid / +33 1 00 00 00 00 / https://example.invalid/audit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Pays de l'avis : FR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 completer au dossier societe (aucune invention)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Pays d'intervention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Partenaires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Implantations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Reponse technique (1/7)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Audit Plateforme de donnees territoriales et API metier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Architecture proposee a partir des exigences source. Les choix ci-dessous restent soumis a validation;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aucun fournisseur ou composant absent de l'avis n'est declare acquis.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Integration et reprise (R004)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Cartographier les sources, cles et regles de transformation; isoler les rejets, rendre les reprises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rejouables et rapprocher les donnees chargees des sources.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Matrice source-cible, traitements versionnes, journal de rejets et rapport de rapprochement.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Acces aux sources et dictionnaire metier valides par leurs proprietaires.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Interfaces et contrats (R005)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Reponse technique (2/7)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Decrire les contrats d'interface, les versions et les erreurs; appliquer les droits par usage et tracer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les appels sans exposer les donnees sensibles.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Contrats d'API editables, catalogue des erreurs, matrice des droits et tests de contrat.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Contrats des applications consommatrices et identites de test accessibles.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Securite et acces (R005, R007)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Inventorier les donnees sensibles et les flux; traduire les usages en habilitations, definir la gestion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des secrets et verifier la protection des traces et sauvegardes.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Matrice des habilitations, analyse des flux sensibles, procedures de gestion des secrets et rapport des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Reponse technique (3/7)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Validation des regles de securite par le responsable habilite de l'acheteur.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Environnements et deploiement (R007)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Documenter les environnements et flux autorises; preparer le deploiement reproductible, la configuration,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les controles de sante et le retour a la version precedente.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Dossier d'environnement, configurations versionnees, procedure de deploiement et procedure de retour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arriere.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Hebergeur, localisation, capacite et responsabilites d'exploitation a faire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approuver.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Continuite et restauration (R008)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Reponse technique (4/7)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Definir le perimetre sauvegarde, la retention et les responsabilites; executer une restauration isolee et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mesurer la perte de donnees et le temps de reprise.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Plan de sauvegarde, procedure de restauration et proces-verbal avec horodatages et rapprochement des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donnees.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Perimetre des donnees, acces de restauration et objectifs de reprise confirmes.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Qualite et recette (R006)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Faire valider les regles metier et les resultats attendus; relier chaque test a l'exigence, versionner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les jeux de recette et qualifier les anomalies avant correction.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Catalogue des regles, cahier de recette trace aux exigences, registre des anomalies et proces-verbal de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recette.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Reponse technique (5/7)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Jeux de donnees representatifs, regles et seuils de recette approuves par le metier.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Documentation livrable (R009)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Constituer les documents demandes a partir des versions effectivement livrees; identifier leurs auteurs,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leur version, leurs destinataires et les renvois entre contrats, donnees et procedures.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Documents editables demandes par l'exigence, index des versions et liste des liens vers les livrables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correspondants.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Liste des formats et responsables de validation documentaire a confirmer.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Documentation et transfert (R010)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Reponse technique (6/7)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Rediger les procedures sur la solution livree; preparer des exercices par role et faire executer les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operations par les destinataires a partir des supports editables.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Guides editables, supports de transfert, exercices pratiques et registre des questions et actions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ouvertes.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Participants, droits de test et perimetre des operations a transferer confirmes.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Pilotage et jalons (R011, R012)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Construire le calendrier a partir des livrables et dependances; suivre avancement constate, risques et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decisions attendues, puis faire approuver tout changement de perimetre.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Planning de reference, registre des decisions, suivi des risques et rapport d'avancement relie aux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livrables.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Reponse technique (7/7)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Date de notification, disponibilite des interlocuteurs et delais de validation a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confirmer.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Tracabilite de la reponse (R013)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Conserver les identifiants et libelles de l'acheteur; relier chaque exigence a la fiche de reponse, au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livrable attendu et a la preuve de recette, avec un statut distinct pour les reserves.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Matrice editable des exigences, reponses, livrables, pieces et reserves; index des justificatifs.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Decision a valider: Version complete du cahier et acces aux annexes cites necessaires.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Contraintes et technologies citees par l'acheteur: 9 mois; 12 sources; PostgreSQL; API REST; RPO de 24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heures et RTO de 4 heures.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Methodologie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Methode declaree par le candidat: Cadrage des usages et du dictionnaire de donnees avec les utilisateurs.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Conception des contrats d'interface. Developpement versionne avec tests de non-regression, recette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contradictoire et transfert aux exploitants.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La sequence proposee ci-dessous organise les reponses detaillees; le passage au jalon suivant depend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d'une preuve acceptee.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Phase · Entree · Livrable et preuve · Condition de passage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Cadrage · Acces, perimetre, exigences et preuves · Cartographie, decisions et matrice source-cible ·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Perimetre et criteres approuves par l'acheteur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Conception · Cadrage approuve et contraintes source · Dossier d'architecture, contrats, plan de recette ·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Choix techniques et scenarios de recette approuves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Methodologie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Realisation et verification · Conception validee et environnements accessibles · Livrables versionnes,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tests et traces d'execution · Tests relies aux exigences examines et ecarts qualifies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Recette et mise en service · Livrables verifies et jeux de recette disponibles · Proces-verbal, reserves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et plan de retour arriere · Decision de mise en service prise par l'acheteur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Transfert et cloture · Solution acceptee et exploitants disponibles · Documentation editable, exercices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et registre des actions · Autonomie observee et responsabilites transferees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Trace de recette: chaque fiche R porte son texte source, la proposition, les livrables, les scenarios de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verification et les dependances. L'acheteur valide les seuils absents avant execution des essais.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Suivi et indicateurs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Dispositif de suivi propose a la commission. Les cibles chiffrees absentes du dossier restent ouvertes 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elles ne sont pas inventees comme SLA.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Date limite de depot : 2099-11-30.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Jours restants lus dans l'avis : 60.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Indicateurs proposes (a contractualiser)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Indicateur · Lecture · Cible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Avancement · % de jalons tenus vs planning valide · a figer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Qualite · anomalies ouvertes / fermees a chaque comite · a figer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Suivi et indicateurs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Delai · ecart vs date limite et vs jalons internes · depot avant l'echeance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Conformite · lignes de la matrice encore ouvertes · 0 ligne ouverte au depot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Risques · risques ouverts, proprietaire, echeance de mitigation · revue a chaque comite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Frequence de reporting lue dans l'avis : comite de pilotage hebdomadaire.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Planning et jalons (1/5)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Planning et jalons. Les seules dates fermes sont celles lues dans l'avis.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Date limite : 2099-11-30.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Charge / duree de mission : duree contractuelle est de 9 mois.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Equipe au dossier 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Chef de projet: Audit Camille Martin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Architecte data: Audit Sam Diallo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Ingenieure qualite: Audit Lea Bernard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A. Calendrier de depot de l'offre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Planning et jalons (2/5)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1. Cadrage et lecture du CDC / de l'avis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2. Offre technique (architecture, methode, references)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3. Offre financiere et pieces administratives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4. Relecture interne et remarques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5. Depot avant 2099-11-30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B. Jalons de realisation (ordre de travail, sans dates inventees)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1. Lancement et cadrage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2. Conception fonctionnelle et technique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Planning et jalons (3/5)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3. Realisation et integrations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4. Recette, transfert et cloture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Phases deja presentes dans la methode ou les modeles 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Marche fictif: centraliser les donnees territoriales, fiabiliser les indicateurs et exposer des API aux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applications metier. Le titulaire doit assurer la reprise, la mise en service et le transfert. La duree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contractuelle est de 9 mois.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EXG-01. Integrer 12 sources PostgreSQL par traitements incrementaux quotidiens; rejeter les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enregistrements invalides sans bloquer les donnees valides et conserver une trace exploitable de chaque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rejet.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Planning et jalons (4/5)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EXG-02. Exposer des API REST versionnees aux applications metier; filtrer les acces par role et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journaliser les consultations de donnees sensibles.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EXG-03. Garantir une qualite mesurable des indicateurs de mobilite: completude, unicite et coherence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temporelle. Les regles metier et les seuils seront valides avec l'acheteur avant la recette.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EXG-04. Heberger les donnees en France, chiffrer les echanges et les sauvegardes et separer les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environnements de test et de production. Le fournisseur d'hebergement reste a proposer.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EXG-05. Demonstrer une restauration depuis sauvegarde avec RPO de 24 heures et RTO de 4 heures. Le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proces-verbal doit consigner les horodatages et les donnees effectivemen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Planning et jalons (5/5)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Les jalons de realisation sont soumis aux conditions de passage de la methodologie: cadrage approuve,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conception validee, preuves de tests, decision de recette, transfert. Les dates intermediaires et la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charge sont a estimer apres validation des acces et des ressources; aucune repartition de la duree totale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n'est supposee.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Equipe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Chef de projet: Audit Camille Martin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Architecte data: Audit Sam Diallo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Ingenieure qualite: Audit Lea Bernard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Budget et bordereau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Volet financier. Aucun prix n'est invente.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Budget publie dans l'avis : 360000 EUR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Devise au dossier : EUR.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Bordereau au dossier 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Audit architecte data: 850 / EUR / jour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Audit ingenierie qualite: 650 / EUR / jour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References au dossier, lues au regard de Audit Plateforme de donnees territoriales et API metier.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Aucune reference n'est ajoutee hors dossier. Les montants ou attestations absents restent ouverts.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Audit Reprise des donnees territoriales (Audit Agglomeration de Demonstration)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Projet fictif: cartographie de sources PostgreSQL, API REST, tests de reprise et transfert aux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exploitants. Le profil ne fournit aucune mesure de disponibilite ni attestation ISO 27001.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Matrice de conformite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ID · Exigence source · Reponse et statut · Pieces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R001 · La certification ISO 27001 est obligatoire. · Piece manquante; voir fiche R001 · Aucune preuve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jointe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R002 · Fournir trois references comparables · Preuves insuffisantes; voir fiche R002 · E003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R003 · les CV nominatifs de l'equipe. · Piece manquante; voir fiche R003 · Aucune preuve jointe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R004 / EXG-01 · EXG-01. Integrer 12 sources PostgreSQL par traitements incrementaux quotidiens; rejeter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les enregistrements invalides sans bloquer les donnees valides et conserver une trace exploitable de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chaque rejet. · Proposition a valider; voir fiche R004 · E001, E003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Matrice de conformite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R005 / EXG-02 · EXG-02. Exposer des API REST versionnees aux applications metier; filtrer les acces par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role et journaliser les consultations de donnees sensibles. · Proposition a valider; voir fiche R005 ·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E001, E003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R006 / EXG-03 · EXG-03. Garantir une qualite mesurable des indicateurs de mobilite: completude, unicite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et coherence temporelle. Les regles metier et les seuils seront valides avec l'acheteur avant la recette.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· Proposition a valider; voir fiche R006 · E001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R007 / EXG-04 · EXG-04. Heberger les donnees en France, chiffrer les echanges et les sauvegardes et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separer les environnements de test et de production. Le fournisseur d'hebergement reste a proposer. ·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Proposition a valider; voir fiche R007 · E001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R008 / EXG-05 · EXG-05. Demonstrer une restauration depuis sauvegarde avec RPO de 24 heures et RTO de 4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heures. Le proces-verbal doit consigner les horodatages et les donnees effectivement restaurees. ·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Proposition a valider; voir fiche R008 · E001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Matrice de conformite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R009 / EXG-06 · EXG-06. Livrer un dossier d'architecture, les contrats d'API, le dictionnaire de donnees,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 cahier de recette et les procedures d'exploitation dans des formats editables. · Proposition a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valider; voir fiche R009 · E001, E003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R010 / EXG-07 · EXG-07. Organiser le transfert aux administrateurs et une mise en situation autonome avec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les procedures remises; consigner les questions et les actions restantes dans un compte rendu. ·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Proposition a valider; voir fiche R010 · E001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R011 / EXG-08 · EXG-08. Tenir un comite de pilotage hebdomadaire. Le rapport doit relier avancement,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risques, decisions attendues et consommation de charge aux livrables contractuels. · Proposition a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valider; voir fiche R011 · E001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R012 / EXG-09 · EXG-09. Achever la mission en 9 mois apres notification. Les dates intermediaires seront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proposees apres validation des acces aux sources, des interlocuteurs metier et de l'environnement de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recette. · Proposition a valider; voir fiche R012 · E001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Matrice de conformite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R013 / EXG-10 · EXG-10. Joindre une matrice reliant chaque exigence du present cahier a la reponse, aux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livrables et aux preuves de recette. Toute reserve doit etre explicite. · Proposition a valider; voir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fiche R013 · E001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R014 · Depot electronique sur le portail Audit, memoire technique et bordereau de prix separes. ·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Declaration a justifier; voir fiche R014 · E001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Reserves et points a valider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Registre de revue avant engagement. Les recettes et les livrables sont des propositions; leur presence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dans ce dossier ne vaut pas acceptation ni preuve de conformite.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R001: Piece manquante. La certification ISO 27001 est obligatoire. (Aucune preuve jointe).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R002: Preuves insuffisantes. Fournir trois references comparables (E003).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R003: Piece manquante. les CV nominatifs de l'equipe. (Aucune preuve jointe).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R014: Declaration a justifier. Depot electronique sur le portail Audit, memoire technique et bordereau de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prix separes. (E001).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Dependances a lever: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Piece source et validation du responsable habilite avant depot.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Reserves et points a valider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References demandees: 3; declarations disponibles: 1. Verifier comparabilite et attestations.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Acces aux schemas et droits de lecture sur les 12 sources PostgreSQL.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Definition et validation des regles de validation avec le metier avant le developpement.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Integration avec le fournisseur d'identite de l'acheteur (ou mise en place d'un annuaire dedie).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Definition des roles et des permissions par l'acheteur.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Definition des indicateurs de mobilite et de leurs champs obligatoires par le metier.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Acces a un jeu de donnees de reference pour definir les seuils temporels.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Validation de l'hebergeur propose par l'acheteur.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Reserves et points a valider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Engagement contractuel de l'hebergeur sur la localisation et la securite.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Infrastructure de sauvegarde avec capacite suffisante pour stocker les sauvegardes et bande passante pour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la restauration.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Mise en production prealable de l'environnement cible.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Acces aux gabarits documentaires du syndicat (si existants) pour aligner la mise en page.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Validation du plan de documentation et des formats lors du cadrage initial.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Disponibilite des administrateurs sur les creneaux proposes.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Environnement de production stable et acces configures avant la session.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65D"/>
                </a:solidFill>
              </a:defRPr>
            </a:pPr>
            <a:r>
              <a:t>Reserves et points a valider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94719" cy="3200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1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Participation reguliere des membres du comite (au moins un representant du syndicat et un du titulaire).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Acces aux outils de suivi partages (compte utilisateur, permissions).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Date de notification, disponibilite des interlocuteurs et delais de validation a confirmer.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Version complete du cahier et acces aux annexes cites necessaires.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Avant depot: rapprocher le dossier du reglement de consultation complet, faire approuver la charge et le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prix, verifier toutes les pieces et obtenir la signature habilitee.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